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05840" y="1828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THEME 2  ·  FINAL PROJECT  ·  ITSCHOOL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37744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6EBF5"/>
                </a:solidFill>
                <a:latin typeface="Segoe UI"/>
              </a:rPr>
              <a:t>A complete CI/CD pipeline for</a:t>
            </a:r>
          </a:p>
          <a:p>
            <a:pPr algn="l">
              <a:spcAft>
                <a:spcPts val="200"/>
              </a:spcAft>
            </a:pPr>
            <a:r>
              <a:rPr sz="4000" b="1">
                <a:solidFill>
                  <a:srgbClr val="E6EBF5"/>
                </a:solidFill>
                <a:latin typeface="Segoe UI"/>
              </a:rPr>
              <a:t>managing and modernising</a:t>
            </a:r>
          </a:p>
          <a:p>
            <a:pPr algn="l">
              <a:spcAft>
                <a:spcPts val="200"/>
              </a:spcAft>
            </a:pPr>
            <a:r>
              <a:rPr sz="4000" b="1">
                <a:solidFill>
                  <a:srgbClr val="818CF8"/>
                </a:solidFill>
                <a:latin typeface="Segoe UI"/>
              </a:rPr>
              <a:t>a PHP web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8463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7BD"/>
                </a:solidFill>
                <a:latin typeface="Segoe UI"/>
              </a:rPr>
              <a:t>4 Ubuntu servers  ·  9 PHP applications  ·  5 PHP versions  ·  206 automated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852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890"/>
                </a:solidFill>
                <a:latin typeface="Consolas"/>
              </a:rPr>
              <a:t>Adrian G.  ·  github.com/AdrianGoG/devops-php-infrastructure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THE WHOLE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BF5"/>
                </a:solidFill>
                <a:latin typeface="Segoe UI"/>
              </a:rPr>
              <a:t>How everything is wired together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92040" y="1600200"/>
            <a:ext cx="2377440" cy="502920"/>
          </a:xfrm>
          <a:prstGeom prst="roundRect">
            <a:avLst>
              <a:gd name="adj" fmla="val 6000"/>
            </a:avLst>
          </a:prstGeom>
          <a:solidFill>
            <a:srgbClr val="121A30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892040" y="171907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Segoe UI"/>
              </a:rPr>
              <a:t>GitHub</a:t>
            </a:r>
          </a:p>
        </p:txBody>
      </p:sp>
      <p:sp>
        <p:nvSpPr>
          <p:cNvPr id="6" name="Down Arrow 5"/>
          <p:cNvSpPr/>
          <p:nvPr/>
        </p:nvSpPr>
        <p:spPr>
          <a:xfrm>
            <a:off x="5943600" y="2139696"/>
            <a:ext cx="256032" cy="329184"/>
          </a:xfrm>
          <a:prstGeom prst="downArrow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21945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B7890"/>
                </a:solidFill>
                <a:latin typeface="Consolas"/>
              </a:rPr>
              <a:t>git push  ·  checkout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542032"/>
            <a:ext cx="10515600" cy="1051560"/>
          </a:xfrm>
          <a:prstGeom prst="roundRect">
            <a:avLst>
              <a:gd name="adj" fmla="val 6000"/>
            </a:avLst>
          </a:prstGeom>
          <a:solidFill>
            <a:srgbClr val="121A30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43000" y="26700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18CF8"/>
                </a:solidFill>
                <a:latin typeface="Consolas"/>
              </a:rPr>
              <a:t>VM1  —  CONTROL NODE  ·  192.168.0.106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017520"/>
            <a:ext cx="2377440" cy="384048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31089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Jenkins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30168" y="3017520"/>
            <a:ext cx="2377440" cy="384048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30168" y="31089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Ansible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17336" y="3017520"/>
            <a:ext cx="2377440" cy="384048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17336" y="31089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python-monitor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04504" y="3017520"/>
            <a:ext cx="2377440" cy="384048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04504" y="31089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Prometheus + Grafana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2331720" y="3630168"/>
            <a:ext cx="256032" cy="384048"/>
          </a:xfrm>
          <a:prstGeom prst="downArrow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own Arrow 18"/>
          <p:cNvSpPr/>
          <p:nvPr/>
        </p:nvSpPr>
        <p:spPr>
          <a:xfrm>
            <a:off x="5943600" y="3630168"/>
            <a:ext cx="256032" cy="384048"/>
          </a:xfrm>
          <a:prstGeom prst="downArrow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9555480" y="3630168"/>
            <a:ext cx="256032" cy="384048"/>
          </a:xfrm>
          <a:prstGeom prst="downArrow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75887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6B7890"/>
                </a:solidFill>
                <a:latin typeface="Consolas"/>
              </a:rPr>
              <a:t>rsync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069080"/>
            <a:ext cx="3291840" cy="1572768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51560" y="41879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22D3EE"/>
                </a:solidFill>
                <a:latin typeface="Consolas"/>
              </a:rPr>
              <a:t>VM2  ·  192.168.0.169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5262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9AA7BD"/>
                </a:solidFill>
                <a:latin typeface="Consolas"/>
              </a:rPr>
              <a:t>app-company-website  8081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9AA7BD"/>
                </a:solidFill>
                <a:latin typeface="Consolas"/>
              </a:rPr>
              <a:t>app-user-dashboard   8082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9AA7BD"/>
                </a:solidFill>
                <a:latin typeface="Consolas"/>
              </a:rPr>
              <a:t>app-api              8083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069080"/>
            <a:ext cx="3291840" cy="1572768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663440" y="41879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22D3EE"/>
                </a:solidFill>
                <a:latin typeface="Consolas"/>
              </a:rPr>
              <a:t>VM3  ·  192.168.0.159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5262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9AA7BD"/>
                </a:solidFill>
                <a:latin typeface="Consolas"/>
              </a:rPr>
              <a:t>app-crm              8081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9AA7BD"/>
                </a:solidFill>
                <a:latin typeface="Consolas"/>
              </a:rPr>
              <a:t>app-inventory        8082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9AA7BD"/>
                </a:solidFill>
                <a:latin typeface="Consolas"/>
              </a:rPr>
              <a:t>app-ticket-system    8083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069080"/>
            <a:ext cx="3291840" cy="1572768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75320" y="41879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22D3EE"/>
                </a:solidFill>
                <a:latin typeface="Consolas"/>
              </a:rPr>
              <a:t>VM4  ·  192.168.0.125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5262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9AA7BD"/>
                </a:solidFill>
                <a:latin typeface="Consolas"/>
              </a:rPr>
              <a:t>app-blog             8081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9AA7BD"/>
                </a:solidFill>
                <a:latin typeface="Consolas"/>
              </a:rPr>
              <a:t>app-file-manager     8082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9AA7BD"/>
                </a:solidFill>
                <a:latin typeface="Consolas"/>
              </a:rPr>
              <a:t>app-monitor          8083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23036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>
                <a:solidFill>
                  <a:srgbClr val="34D399"/>
                </a:solidFill>
                <a:latin typeface="Consolas"/>
              </a:rPr>
              <a:t>dashboard ──HTTP──► api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34440" y="5797296"/>
            <a:ext cx="10104120" cy="190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Left Arrow 32"/>
          <p:cNvSpPr/>
          <p:nvPr/>
        </p:nvSpPr>
        <p:spPr>
          <a:xfrm>
            <a:off x="960120" y="5715000"/>
            <a:ext cx="292608" cy="219456"/>
          </a:xfrm>
          <a:prstGeom prst="leftArrow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0" y="589788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34D399"/>
                </a:solidFill>
                <a:latin typeface="Consolas"/>
              </a:rPr>
              <a:t>app-monitor probes GET /health on all eight others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29107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890"/>
                </a:solidFill>
                <a:latin typeface="Segoe UI"/>
              </a:rPr>
              <a:t>Only VM1 talks to GitHub  ·  Prometheus scrapes /metrics from app-monitor and app-api  ·  each application has its own MySQL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THE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BF5"/>
                </a:solidFill>
                <a:latin typeface="Segoe UI"/>
              </a:rPr>
              <a:t>A legacy estate, managed like a modern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51206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0">
                <a:solidFill>
                  <a:srgbClr val="9AA7BD"/>
                </a:solidFill>
                <a:latin typeface="Segoe UI"/>
              </a:rPr>
              <a:t>•  Three Ubuntu servers hosting nine PHP applications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9AA7BD"/>
                </a:solidFill>
                <a:latin typeface="Segoe UI"/>
              </a:rPr>
              <a:t>•  Each application on its own PHP version, in its own container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9AA7BD"/>
                </a:solidFill>
                <a:latin typeface="Segoe UI"/>
              </a:rPr>
              <a:t>•  Some of them contain real incompatibilities with PHP 8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9AA7BD"/>
                </a:solidFill>
                <a:latin typeface="Segoe UI"/>
              </a:rPr>
              <a:t>•  The whole cycle automated: versioning, testing, build,
    deployment, monitoring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194560"/>
            <a:ext cx="4937760" cy="329184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766560" y="2514600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E6EBF5"/>
                </a:solidFill>
                <a:latin typeface="Segoe UI"/>
              </a:rPr>
              <a:t>The question this project answers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9AA7BD"/>
                </a:solidFill>
                <a:latin typeface="Segoe UI"/>
              </a:rPr>
              <a:t>Not "how do I avoid an estate on mixed PHP versions"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E6EBF5"/>
                </a:solidFill>
                <a:latin typeface="Segoe UI"/>
              </a:rPr>
              <a:t>but "how do I move it forward without a weekend of downtime"</a:t>
            </a:r>
          </a:p>
          <a:p>
            <a:pPr algn="l">
              <a:spcAft>
                <a:spcPts val="900"/>
              </a:spcAft>
            </a:pPr>
            <a:r>
              <a:rPr sz="800" b="0">
                <a:solidFill>
                  <a:srgbClr val="9AA7BD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9AA7BD"/>
                </a:solidFill>
                <a:latin typeface="Segoe UI"/>
              </a:rPr>
              <a:t>Containers make the mixed state survivable.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9AA7BD"/>
                </a:solidFill>
                <a:latin typeface="Segoe UI"/>
              </a:rPr>
              <a:t>The pipeline makes moving forward repeatable.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BF5"/>
                </a:solidFill>
                <a:latin typeface="Segoe UI"/>
              </a:rPr>
              <a:t>Four servers, nine applications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514600" cy="310896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818CF8"/>
                </a:solidFill>
                <a:latin typeface="Segoe UI"/>
              </a:rPr>
              <a:t>VM1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B7890"/>
                </a:solidFill>
                <a:latin typeface="Consolas"/>
              </a:rPr>
              <a:t>192.168.0.106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204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Consolas"/>
              </a:rPr>
              <a:t>Jenkins · Ansible · Git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Consolas"/>
              </a:rPr>
              <a:t>Prometheus · Grafana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286000"/>
            <a:ext cx="2514600" cy="310896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56032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2D3EE"/>
                </a:solidFill>
                <a:latin typeface="Segoe UI"/>
              </a:rPr>
              <a:t>VM2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30175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B7890"/>
                </a:solidFill>
                <a:latin typeface="Consolas"/>
              </a:rPr>
              <a:t>192.168.0.169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35204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Consolas"/>
              </a:rPr>
              <a:t>app-company-website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Consolas"/>
              </a:rPr>
              <a:t>app-user-dashboard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Consolas"/>
              </a:rPr>
              <a:t>app-api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286000"/>
            <a:ext cx="2514600" cy="310896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2240" y="256032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2D3EE"/>
                </a:solidFill>
                <a:latin typeface="Segoe UI"/>
              </a:rPr>
              <a:t>VM3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B7890"/>
                </a:solidFill>
                <a:latin typeface="Consolas"/>
              </a:rPr>
              <a:t>192.168.0.159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5204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Consolas"/>
              </a:rPr>
              <a:t>app-crm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Consolas"/>
              </a:rPr>
              <a:t>app-inventory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Consolas"/>
              </a:rPr>
              <a:t>app-ticket-system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2286000"/>
            <a:ext cx="2514600" cy="310896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89720" y="256032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2D3EE"/>
                </a:solidFill>
                <a:latin typeface="Segoe UI"/>
              </a:rPr>
              <a:t>VM4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30175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B7890"/>
                </a:solidFill>
                <a:latin typeface="Consolas"/>
              </a:rPr>
              <a:t>192.168.0.125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35204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Consolas"/>
              </a:rPr>
              <a:t>app-blog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Consolas"/>
              </a:rPr>
              <a:t>app-file-manager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Consolas"/>
              </a:rPr>
              <a:t>app-monitor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6692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7BD"/>
                </a:solidFill>
                <a:latin typeface="Segoe UI"/>
              </a:rPr>
              <a:t>Every application: its own NGINX + PHP-FPM + MySQL containers. Nothing shared.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E6EBF5"/>
                </a:solidFill>
                <a:latin typeface="Segoe UI"/>
              </a:rPr>
              <a:t>Five PHP versions and four Laravel versions, 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>
                <a:solidFill>
                  <a:srgbClr val="6B7890"/>
                </a:solidFill>
                <a:latin typeface="Consolas"/>
              </a:rPr>
              <a:t>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21945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>
                <a:solidFill>
                  <a:srgbClr val="6B7890"/>
                </a:solidFill>
                <a:latin typeface="Consolas"/>
              </a:rPr>
              <a:t>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21945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>
                <a:solidFill>
                  <a:srgbClr val="6B7890"/>
                </a:solidFill>
                <a:latin typeface="Consolas"/>
              </a:rPr>
              <a:t>PHP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1945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>
                <a:solidFill>
                  <a:srgbClr val="6B7890"/>
                </a:solidFill>
                <a:latin typeface="Consolas"/>
              </a:rPr>
              <a:t>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21945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>
                <a:solidFill>
                  <a:srgbClr val="6B7890"/>
                </a:solidFill>
                <a:latin typeface="Consolas"/>
              </a:rPr>
              <a:t>TESTS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468880"/>
            <a:ext cx="10515600" cy="9525"/>
          </a:xfrm>
          <a:prstGeom prst="rect">
            <a:avLst/>
          </a:prstGeom>
          <a:solidFill>
            <a:srgbClr val="242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5786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E6EBF5"/>
                </a:solidFill>
                <a:latin typeface="Consolas"/>
              </a:rPr>
              <a:t>app-company-website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57860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VM2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57860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8.3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5786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Laravel 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257860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4436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E6EBF5"/>
                </a:solidFill>
                <a:latin typeface="Consolas"/>
              </a:rPr>
              <a:t>app-user-dashboard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94436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VM2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294436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8.2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94436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Laravel 12 + Breeze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294436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31012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E6EBF5"/>
                </a:solidFill>
                <a:latin typeface="Consolas"/>
              </a:rPr>
              <a:t>app-api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31012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VM2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31012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FB7185"/>
                </a:solidFill>
                <a:latin typeface="Consolas"/>
              </a:rPr>
              <a:t>7.4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31012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plain PHP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0" y="331012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6758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E6EBF5"/>
                </a:solidFill>
                <a:latin typeface="Consolas"/>
              </a:rPr>
              <a:t>app-crm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67588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VM3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67588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FB7185"/>
                </a:solidFill>
                <a:latin typeface="Consolas"/>
              </a:rPr>
              <a:t>7.4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6758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plain PHP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67588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04164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E6EBF5"/>
                </a:solidFill>
                <a:latin typeface="Consolas"/>
              </a:rPr>
              <a:t>app-inventory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04164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VM3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404164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FBBF24"/>
                </a:solidFill>
                <a:latin typeface="Consolas"/>
              </a:rPr>
              <a:t>8.0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04164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Laravel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404164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4074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E6EBF5"/>
                </a:solidFill>
                <a:latin typeface="Consolas"/>
              </a:rPr>
              <a:t>app-ticket-system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40740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VM3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0" y="440740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FBBF24"/>
                </a:solidFill>
                <a:latin typeface="Consolas"/>
              </a:rPr>
              <a:t>8.1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44074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Laravel 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440740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477316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E6EBF5"/>
                </a:solidFill>
                <a:latin typeface="Consolas"/>
              </a:rPr>
              <a:t>app-blog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477316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VM4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94960" y="477316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8.2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77316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Laravel 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60" y="477316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13892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E6EBF5"/>
                </a:solidFill>
                <a:latin typeface="Consolas"/>
              </a:rPr>
              <a:t>app-file-manager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513892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VM4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94960" y="513892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8.2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75120" y="513892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Laravel 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513892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5046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E6EBF5"/>
                </a:solidFill>
                <a:latin typeface="Consolas"/>
              </a:rPr>
              <a:t>app-monitor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0" y="550468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VM4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94960" y="550468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8.2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0" y="55046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Laravel 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6960" y="550468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61264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4D399"/>
                </a:solidFill>
                <a:latin typeface="Segoe UI"/>
              </a:rPr>
              <a:t>206 automated tests in total, run by the pipeline before every deployment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BF5"/>
                </a:solidFill>
                <a:latin typeface="Segoe UI"/>
              </a:rPr>
              <a:t>Six of the nine applications talk to nobody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7BD"/>
                </a:solidFill>
                <a:latin typeface="Segoe UI"/>
              </a:rPr>
              <a:t>They are independent, each with its own database. That is what makes the containerisation worth anything.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51760"/>
            <a:ext cx="10515600" cy="219456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9784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E6EBF5"/>
                </a:solidFill>
                <a:latin typeface="Consolas"/>
              </a:rPr>
              <a:t>app-user-dashboard   ──HTTP──►   app-api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7890"/>
                </a:solidFill>
                <a:latin typeface="Segoe UI"/>
              </a:rPr>
              <a:t>the dashboard stores nothing about the infrastructure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E6EBF5"/>
                </a:solidFill>
                <a:latin typeface="Consolas"/>
              </a:rPr>
              <a:t>app-monitor          ──HTTP──►   the other eight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7890"/>
                </a:solidFill>
                <a:latin typeface="Segoe UI"/>
              </a:rPr>
              <a:t>it probes their /health endpoint on every scrape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E6EBF5"/>
                </a:solidFill>
                <a:latin typeface="Consolas"/>
              </a:rPr>
              <a:t>Jenkins              ──HTTP──►   app-api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7890"/>
                </a:solidFill>
                <a:latin typeface="Segoe UI"/>
              </a:rPr>
              <a:t>it records every deployment at the end of the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120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Segoe UI"/>
              </a:rPr>
              <a:t>The dashboard → api pair is the proof that the containerisation works: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7BD"/>
                </a:solidFill>
                <a:latin typeface="Segoe UI"/>
              </a:rPr>
              <a:t>a PHP 8.2 application and a PHP 7.4 application, on the same server, talking over HTTP.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THE SHARED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BF5"/>
                </a:solidFill>
                <a:latin typeface="Segoe UI"/>
              </a:rPr>
              <a:t>Nine code bases, one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7BD"/>
                </a:solidFill>
                <a:latin typeface="Segoe UI"/>
              </a:rPr>
              <a:t>That is why a single monitor is enough for all of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669280" cy="2743200"/>
          </a:xfrm>
          <a:prstGeom prst="roundRect">
            <a:avLst>
              <a:gd name="adj" fmla="val 6000"/>
            </a:avLst>
          </a:prstGeom>
          <a:solidFill>
            <a:srgbClr val="03050C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5212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Consolas"/>
              </a:rPr>
              <a:t>GET /health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Consolas"/>
              </a:rPr>
              <a:t>{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Consolas"/>
              </a:rPr>
              <a:t>  "status":      "ok",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Consolas"/>
              </a:rPr>
              <a:t>  "application": "app-crm",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Consolas"/>
              </a:rPr>
              <a:t>  "server":      "VM3-Application-Server-2",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Consolas"/>
              </a:rPr>
              <a:t>  "php":         "7.4.33",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Consolas"/>
              </a:rPr>
              <a:t>  "database":    "ok",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Consolas"/>
              </a:rPr>
              <a:t>  "checked_at":  "2026-07-30T12:54:57+00:00"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Consolas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468880"/>
            <a:ext cx="4480560" cy="274320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223760" y="2743200"/>
            <a:ext cx="3749039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EBF5"/>
                </a:solidFill>
                <a:latin typeface="Segoe UI"/>
              </a:rPr>
              <a:t>Who consumes it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app-monitor  →  Prometheus metrics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python-monitor  →  before/after report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Jenkins  →  smoke test after a deploy</a:t>
            </a:r>
          </a:p>
          <a:p>
            <a:pPr algn="l">
              <a:spcAft>
                <a:spcPts val="800"/>
              </a:spcAft>
            </a:pPr>
            <a:r>
              <a:rPr sz="800" b="0">
                <a:solidFill>
                  <a:srgbClr val="9AA7BD"/>
                </a:solidFill>
                <a:latin typeface="Segoe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E6EBF5"/>
                </a:solidFill>
                <a:latin typeface="Segoe UI"/>
              </a:rPr>
              <a:t>The php field is the one that tells you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2D3EE"/>
                </a:solidFill>
                <a:latin typeface="Segoe UI"/>
              </a:rPr>
              <a:t>whether an upgrade actually reached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2D3EE"/>
                </a:solidFill>
                <a:latin typeface="Segoe UI"/>
              </a:rPr>
              <a:t>the container.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CONTAINERISATION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BF5"/>
                </a:solidFill>
                <a:latin typeface="Segoe UI"/>
              </a:rPr>
              <a:t>The code is not inside the Docker 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029200" cy="1737360"/>
          </a:xfrm>
          <a:prstGeom prst="roundRect">
            <a:avLst>
              <a:gd name="adj" fmla="val 6000"/>
            </a:avLst>
          </a:prstGeom>
          <a:solidFill>
            <a:srgbClr val="03050C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51560" y="246888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FROM php:8.2-fpm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RUN docker-php-ext-install pdo_mysql zip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WORKDIR /var/www/html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CMD ["php-fpm"]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890"/>
                </a:solidFill>
                <a:latin typeface="Segoe UI"/>
              </a:rPr>
              <a:t>The image: PHP and extensions only. No code.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86000"/>
            <a:ext cx="5029200" cy="1737360"/>
          </a:xfrm>
          <a:prstGeom prst="roundRect">
            <a:avLst>
              <a:gd name="adj" fmla="val 6000"/>
            </a:avLst>
          </a:prstGeom>
          <a:solidFill>
            <a:srgbClr val="03050C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37960" y="246888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volumes: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  - ./src:/var/www/html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the code is read off the server's disk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41605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890"/>
                </a:solidFill>
                <a:latin typeface="Segoe UI"/>
              </a:rPr>
              <a:t>Deployment = copying files.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88720" y="5029200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34D399"/>
                </a:solidFill>
                <a:latin typeface="Consolas"/>
              </a:rPr>
              <a:t>PHP code changed      →   rsync + restart php   →   seconds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FBBF24"/>
                </a:solidFill>
                <a:latin typeface="Consolas"/>
              </a:rPr>
              <a:t>Dockerfile changed    →   rebuild the image     →   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DELIVERY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BF5"/>
                </a:solidFill>
                <a:latin typeface="Segoe UI"/>
              </a:rPr>
              <a:t>From git push to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68880"/>
            <a:ext cx="1965960" cy="173736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51560" y="269748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632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6EBF5"/>
                </a:solidFill>
                <a:latin typeface="Segoe UI"/>
              </a:rPr>
              <a:t>git push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5204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B7890"/>
                </a:solidFill>
                <a:latin typeface="Consolas"/>
              </a:rPr>
              <a:t>development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4368" y="2468880"/>
            <a:ext cx="1965960" cy="173736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72968" y="269748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2968" y="30632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6EBF5"/>
                </a:solidFill>
                <a:latin typeface="Segoe UI"/>
              </a:rPr>
              <a:t>Jenkins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35204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B7890"/>
                </a:solidFill>
                <a:latin typeface="Consolas"/>
              </a:rPr>
              <a:t>poll / webhook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65776" y="2468880"/>
            <a:ext cx="1965960" cy="173736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294376" y="269748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94376" y="30632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6EBF5"/>
                </a:solidFill>
                <a:latin typeface="Segoe UI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94376" y="35204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B7890"/>
                </a:solidFill>
                <a:latin typeface="Consolas"/>
              </a:rPr>
              <a:t>206 PHPUnit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87184" y="2468880"/>
            <a:ext cx="1965960" cy="173736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415784" y="269748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15784" y="30632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6EBF5"/>
                </a:solidFill>
                <a:latin typeface="Segoe UI"/>
              </a:rPr>
              <a:t>Ansible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35204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B7890"/>
                </a:solidFill>
                <a:latin typeface="Consolas"/>
              </a:rPr>
              <a:t>rsync → servers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8592" y="2468880"/>
            <a:ext cx="1965960" cy="173736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537192" y="269748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30632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6EBF5"/>
                </a:solidFill>
                <a:latin typeface="Segoe UI"/>
              </a:rPr>
              <a:t>Smoke 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7192" y="35204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B7890"/>
                </a:solidFill>
                <a:latin typeface="Consolas"/>
              </a:rPr>
              <a:t>Python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66344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EBF5"/>
                </a:solidFill>
                <a:latin typeface="Segoe UI"/>
              </a:rPr>
              <a:t>Only VM1 talks to GitHub.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9AA7BD"/>
                </a:solidFill>
                <a:latin typeface="Segoe UI"/>
              </a:rPr>
              <a:t>Ansible copies each application to the server that hosts it — every server receives only its own three,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9AA7BD"/>
                </a:solidFill>
                <a:latin typeface="Segoe UI"/>
              </a:rPr>
              <a:t>and the servers need no internet access of their own.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BF5"/>
                </a:solidFill>
                <a:latin typeface="Segoe UI"/>
              </a:rPr>
              <a:t>Everything used in the 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4884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97280" y="235000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Consolas"/>
              </a:rPr>
              <a:t>LANGUAGES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PHP  7.4 · 8.0 · 8.1 · 8.2 · 8.3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Python 3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Bash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14884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09160" y="235000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Consolas"/>
              </a:rPr>
              <a:t>FRAMEWORKS &amp; LIBRARIES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274320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Laravel  9 · 10 · 12 · 13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Laravel Breeze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Bootstrap 5.3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PHPUnit · Composer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14884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1040" y="235000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Consolas"/>
              </a:rPr>
              <a:t>CONTAINERS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74320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Docker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Docker Compose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php:*-fpm · nginx · mysql:8.0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named volumes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16052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97280" y="436168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Consolas"/>
              </a:rPr>
              <a:t>VERSION CONTROL &amp; CI/CD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7548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Git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GitHub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Jenkins  declarative pipeline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Ansible · rsync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416052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709160" y="436168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Consolas"/>
              </a:rPr>
              <a:t>MONITORING &amp; LOGGING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7548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Prometheus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Grafana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node_exporter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infra_check.py · app-monitor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16052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21040" y="436168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Consolas"/>
              </a:rPr>
              <a:t>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7548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Ubuntu Server 24.04 LTS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NGINX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MySQL 8.0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9AA7BD"/>
                </a:solidFill>
                <a:latin typeface="Segoe UI"/>
              </a:rPr>
              <a:t>Laravel Herd  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TECHNOLOGIES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BF5"/>
                </a:solidFill>
                <a:latin typeface="Segoe UI"/>
              </a:rPr>
              <a:t>Every tool with a clear job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40280"/>
            <a:ext cx="10515600" cy="603504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39572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Segoe UI"/>
              </a:rPr>
              <a:t>Git &amp; 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2414016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the history of the migration, main + development branches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935224"/>
            <a:ext cx="10515600" cy="603504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09067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Segoe UI"/>
              </a:rPr>
              <a:t>Jenkins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10896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two pipelines: deploy on push, upgrade on demand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30168"/>
            <a:ext cx="10515600" cy="603504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378561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Segoe UI"/>
              </a:rPr>
              <a:t>Docker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803904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five PHP versions running side by side, isolated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325112"/>
            <a:ext cx="10515600" cy="603504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448056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Segoe UI"/>
              </a:rPr>
              <a:t>Ansible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498848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distributes the code, changes the PHP version, rolls 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20056"/>
            <a:ext cx="10515600" cy="603504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43000" y="517550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Segoe UI"/>
              </a:rPr>
              <a:t>Python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5193792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checks the estate before and after every change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715000"/>
            <a:ext cx="10515600" cy="603504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143000" y="587044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Segoe UI"/>
              </a:rPr>
              <a:t>Prometheus + Grafana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5888736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availability, response time, CPU, 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THE CENTRAL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E6EBF5"/>
                </a:solidFill>
                <a:latin typeface="Segoe UI"/>
              </a:rPr>
              <a:t>The same HTTP 500, three completely different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7BD"/>
                </a:solidFill>
                <a:latin typeface="Segoe UI"/>
              </a:rPr>
              <a:t>VM3 — what happens when Ansible raises PHP to 8.3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>
                <a:solidFill>
                  <a:srgbClr val="6B7890"/>
                </a:solidFill>
                <a:latin typeface="Consolas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26517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>
                <a:solidFill>
                  <a:srgbClr val="6B7890"/>
                </a:solidFill>
                <a:latin typeface="Consolas"/>
              </a:rPr>
              <a:t>BLOCKED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65176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>
                <a:solidFill>
                  <a:srgbClr val="6B7890"/>
                </a:solidFill>
                <a:latin typeface="Consolas"/>
              </a:rPr>
              <a:t>WORK NEEDED TO REACH PHP 8.3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926080"/>
            <a:ext cx="10515600" cy="9525"/>
          </a:xfrm>
          <a:prstGeom prst="rect">
            <a:avLst/>
          </a:prstGeom>
          <a:solidFill>
            <a:srgbClr val="242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3035808"/>
            <a:ext cx="3108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Consolas"/>
              </a:rPr>
              <a:t>app-crm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35808"/>
            <a:ext cx="2926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B7185"/>
                </a:solidFill>
                <a:latin typeface="Segoe UI"/>
              </a:rPr>
              <a:t>its own source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035808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7BD"/>
                </a:solidFill>
                <a:latin typeface="Segoe UI"/>
              </a:rPr>
              <a:t>three one-line diffs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602736"/>
            <a:ext cx="3108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Consolas"/>
              </a:rPr>
              <a:t>app-inventory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602736"/>
            <a:ext cx="2926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BBF24"/>
                </a:solidFill>
                <a:latin typeface="Segoe UI"/>
              </a:rPr>
              <a:t>its dependencies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602736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7BD"/>
                </a:solidFill>
                <a:latin typeface="Segoe UI"/>
              </a:rPr>
              <a:t>four major framework upgrades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69664"/>
            <a:ext cx="3108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Consolas"/>
              </a:rPr>
              <a:t>app-ticket-system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169664"/>
            <a:ext cx="2926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4D399"/>
                </a:solidFill>
                <a:latin typeface="Segoe UI"/>
              </a:rPr>
              <a:t>nothing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169664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7BD"/>
                </a:solidFill>
                <a:latin typeface="Segoe UI"/>
              </a:rPr>
              <a:t>one line in a Dockerfile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846320"/>
            <a:ext cx="10515600" cy="118872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88720" y="5120640"/>
            <a:ext cx="9784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6EBF5"/>
                </a:solidFill>
                <a:latin typeface="Segoe UI"/>
              </a:rPr>
              <a:t>All three produce exactly the same error code.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9AA7BD"/>
                </a:solidFill>
                <a:latin typeface="Segoe UI"/>
              </a:rPr>
              <a:t>Only reading the error tells you which of the three you are looking at — and what it will cost.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THE OTHER 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BF5"/>
                </a:solidFill>
                <a:latin typeface="Segoe UI"/>
              </a:rPr>
              <a:t>On VM4 the upgrade is the fix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5029200" cy="237744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651760"/>
            <a:ext cx="4389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E6EBF5"/>
                </a:solidFill>
                <a:latin typeface="Segoe UI"/>
              </a:rPr>
              <a:t>VM3 — working right now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FB7185"/>
                </a:solidFill>
                <a:latin typeface="Segoe UI"/>
              </a:rPr>
              <a:t>the upgrade breaks them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9AA7BD"/>
                </a:solidFill>
                <a:latin typeface="Segoe UI"/>
              </a:rPr>
              <a:t>fixed by changing the source 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377440"/>
            <a:ext cx="5029200" cy="237744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29400" y="2651760"/>
            <a:ext cx="4389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E6EBF5"/>
                </a:solidFill>
                <a:latin typeface="Segoe UI"/>
              </a:rPr>
              <a:t>VM4 — down right now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FBBF24"/>
                </a:solidFill>
                <a:latin typeface="Segoe UI"/>
              </a:rPr>
              <a:t>Laravel 13 needs PHP 8.3, the container has 8.2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34D399"/>
                </a:solidFill>
                <a:latin typeface="Segoe UI"/>
              </a:rPr>
              <a:t>the upgrade fixes them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029200"/>
            <a:ext cx="10515600" cy="1188720"/>
          </a:xfrm>
          <a:prstGeom prst="roundRect">
            <a:avLst>
              <a:gd name="adj" fmla="val 6000"/>
            </a:avLst>
          </a:prstGeom>
          <a:solidFill>
            <a:srgbClr val="03050C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Fatal error: Your Composer dependencies require a PHP version "&gt;= 8.3.0".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9AA7BD"/>
                </a:solidFill>
                <a:latin typeface="Consolas"/>
              </a:rPr>
              <a:t>You are running 8.2.31.        →  HTTP 500 on every 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AFTER THE UPGRADE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E6EBF5"/>
                </a:solidFill>
                <a:latin typeface="Segoe UI"/>
              </a:rPr>
              <a:t>What the upgrade fixes, and what needs a developer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7BD"/>
                </a:solidFill>
                <a:latin typeface="Segoe UI"/>
              </a:rPr>
              <a:t>The same command on all nine applications, three different outcomes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3291840" cy="288036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8992" y="25146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>
                <a:solidFill>
                  <a:srgbClr val="34D399"/>
                </a:solidFill>
                <a:latin typeface="Consolas"/>
              </a:rPr>
              <a:t>FIXED BY THE UPGRADE ITSELF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7889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6EBF5"/>
                </a:solidFill>
                <a:latin typeface="Segoe UI"/>
              </a:rPr>
              <a:t>4 applications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200400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7BD"/>
                </a:solidFill>
                <a:latin typeface="Consolas"/>
              </a:rPr>
              <a:t>app-company-website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584448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7BD"/>
                </a:solidFill>
                <a:latin typeface="Consolas"/>
              </a:rPr>
              <a:t>app-blog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968496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7BD"/>
                </a:solidFill>
                <a:latin typeface="Consolas"/>
              </a:rPr>
              <a:t>app-file-manager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352544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7BD"/>
                </a:solidFill>
                <a:latin typeface="Consolas"/>
              </a:rPr>
              <a:t>app-monitor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48006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Segoe UI"/>
              </a:rPr>
              <a:t>Their runtime was older than the framework needed.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291840" cy="288036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6B78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90872" y="25146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>
                <a:solidFill>
                  <a:srgbClr val="6B7890"/>
                </a:solidFill>
                <a:latin typeface="Consolas"/>
              </a:rPr>
              <a:t>UNAFFECTED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7889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6EBF5"/>
                </a:solidFill>
                <a:latin typeface="Segoe UI"/>
              </a:rPr>
              <a:t>2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3200400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7BD"/>
                </a:solidFill>
                <a:latin typeface="Consolas"/>
              </a:rPr>
              <a:t>app-user-dashboard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584448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7BD"/>
                </a:solidFill>
                <a:latin typeface="Consolas"/>
              </a:rPr>
              <a:t>app-ticket-system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48006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Segoe UI"/>
              </a:rPr>
              <a:t>Already compatible with PHP 8.3.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331720"/>
            <a:ext cx="3291840" cy="288036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02752" y="25146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>
                <a:solidFill>
                  <a:srgbClr val="FB7185"/>
                </a:solidFill>
                <a:latin typeface="Consolas"/>
              </a:rPr>
              <a:t>BROKEN BY THE UPGRADE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7889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6EBF5"/>
                </a:solidFill>
                <a:latin typeface="Segoe UI"/>
              </a:rPr>
              <a:t>3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3200400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7BD"/>
                </a:solidFill>
                <a:latin typeface="Consolas"/>
              </a:rPr>
              <a:t>app-crm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3383280"/>
            <a:ext cx="2834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7890"/>
                </a:solidFill>
                <a:latin typeface="Segoe UI"/>
              </a:rPr>
              <a:t>3 one-line diffs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3584448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7BD"/>
                </a:solidFill>
                <a:latin typeface="Consolas"/>
              </a:rPr>
              <a:t>app-api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3767328"/>
            <a:ext cx="2834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7890"/>
                </a:solidFill>
                <a:latin typeface="Segoe UI"/>
              </a:rPr>
              <a:t>6 small fixes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968496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7BD"/>
                </a:solidFill>
                <a:latin typeface="Consolas"/>
              </a:rPr>
              <a:t>app-inventory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4151376"/>
            <a:ext cx="2834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7890"/>
                </a:solidFill>
                <a:latin typeface="Segoe UI"/>
              </a:rPr>
              <a:t>framework upgrade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48006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Segoe UI"/>
              </a:rPr>
              <a:t>These are the only ones that need source code work.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44068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188720" y="5650992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BF5"/>
                </a:solidFill>
                <a:latin typeface="Segoe UI"/>
              </a:rPr>
              <a:t>One command raises PHP everywhere. Four applications come up, three go down — and only those three cost anything.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BF5"/>
                </a:solidFill>
                <a:latin typeface="Segoe UI"/>
              </a:rPr>
              <a:t>The infrastructure checks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7BD"/>
                </a:solidFill>
                <a:latin typeface="Segoe UI"/>
              </a:rPr>
              <a:t>python-monitor runs before and after every automated 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10515600" cy="2286000"/>
          </a:xfrm>
          <a:prstGeom prst="roundRect">
            <a:avLst>
              <a:gd name="adj" fmla="val 6000"/>
            </a:avLst>
          </a:prstGeom>
          <a:solidFill>
            <a:srgbClr val="03050C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10058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2D3EE"/>
                </a:solidFill>
                <a:latin typeface="Consolas"/>
              </a:rPr>
              <a:t>$ python infra_check.py --report before.json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2D3EE"/>
                </a:solidFill>
                <a:latin typeface="Consolas"/>
              </a:rPr>
              <a:t>$ ansible-playbook playbooks/upgrade-php.yml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2D3EE"/>
                </a:solidFill>
                <a:latin typeface="Consolas"/>
              </a:rPr>
              <a:t>$ python infra_check.py --compare before.json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9AA7BD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9AA7BD"/>
                </a:solidFill>
                <a:latin typeface="Consolas"/>
              </a:rPr>
              <a:t>  app-blog               ok -&gt; error   BROKE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9AA7BD"/>
                </a:solidFill>
                <a:latin typeface="Consolas"/>
              </a:rPr>
              <a:t>  8 unchanged                                        exit code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29200"/>
            <a:ext cx="10515600" cy="109728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88720" y="5285232"/>
            <a:ext cx="9784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E6EBF5"/>
                </a:solidFill>
                <a:latin typeface="Segoe UI"/>
              </a:rPr>
              <a:t>The difference between the two reports turns a risky upgrade into a measurable operation.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BF5"/>
                </a:solidFill>
                <a:latin typeface="Segoe UI"/>
              </a:rPr>
              <a:t>Prometheus and Grafana, on the control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53035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0">
                <a:solidFill>
                  <a:srgbClr val="9AA7BD"/>
                </a:solidFill>
                <a:latin typeface="Segoe UI"/>
              </a:rPr>
              <a:t>•  node_exporter on every server: CPU, memory, disk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9AA7BD"/>
                </a:solidFill>
                <a:latin typeface="Segoe UI"/>
              </a:rPr>
              <a:t>•  app-monitor: the availability of all nine applications,
    from a single scrape target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9AA7BD"/>
                </a:solidFill>
                <a:latin typeface="Segoe UI"/>
              </a:rPr>
              <a:t>•  app-api: how many applications are still to migrate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9AA7BD"/>
                </a:solidFill>
                <a:latin typeface="Segoe UI"/>
              </a:rPr>
              <a:t>•  The dashboard is versioned in Git and provisioned
    automatically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2194560"/>
            <a:ext cx="4846320" cy="320040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0" y="2514600"/>
            <a:ext cx="411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6EBF5"/>
                </a:solidFill>
                <a:latin typeface="Segoe UI"/>
              </a:rPr>
              <a:t>The panel that matters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22D3EE"/>
                </a:solidFill>
                <a:latin typeface="Consolas"/>
              </a:rPr>
              <a:t>PHP version per application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9AA7BD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During a migration you watch each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application move to 8.3, live.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9AA7BD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E6EBF5"/>
                </a:solidFill>
                <a:latin typeface="Segoe UI"/>
              </a:rPr>
              <a:t>If a container stayed on the old image,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E6EBF5"/>
                </a:solidFill>
                <a:latin typeface="Segoe UI"/>
              </a:rPr>
              <a:t>the table shows it. A 200 status code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E6EBF5"/>
                </a:solidFill>
                <a:latin typeface="Segoe UI"/>
              </a:rPr>
              <a:t>would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890"/>
                </a:solidFill>
                <a:latin typeface="Segoe UI"/>
              </a:rPr>
              <a:t>Monitoring lives on VM1: if VM3 goes down, you want it still up to tell you about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BF5"/>
                </a:solidFill>
                <a:latin typeface="Segoe UI"/>
              </a:rPr>
              <a:t>The full cycle, in five commands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10515600" cy="3108960"/>
          </a:xfrm>
          <a:prstGeom prst="roundRect">
            <a:avLst>
              <a:gd name="adj" fmla="val 6000"/>
            </a:avLst>
          </a:prstGeom>
          <a:solidFill>
            <a:srgbClr val="03050C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51560" y="2468880"/>
            <a:ext cx="10058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2D3EE"/>
                </a:solidFill>
                <a:latin typeface="Consolas"/>
              </a:rPr>
              <a:t>$ python infra_check.py --report before.json          # 6/9 working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9AA7BD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2D3EE"/>
                </a:solidFill>
                <a:latin typeface="Consolas"/>
              </a:rPr>
              <a:t>$ ansible-playbook playbooks/upgrade-php.yml          # PHP 8.3 everywhere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9AA7BD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2D3EE"/>
                </a:solidFill>
                <a:latin typeface="Consolas"/>
              </a:rPr>
              <a:t>$ python infra_check.py --compare before.json         # VM4 fixed, VM3 broken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9AA7BD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2D3EE"/>
                </a:solidFill>
                <a:latin typeface="Consolas"/>
              </a:rPr>
              <a:t>$ git commit -m "fix: curly brace offsets for PHP 8"  # adapting the code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2D3EE"/>
                </a:solidFill>
                <a:latin typeface="Consolas"/>
              </a:rPr>
              <a:t>$ git push                                            # Jenkins redeploys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577840"/>
            <a:ext cx="10515600" cy="822960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88720" y="5779008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34D399"/>
                </a:solidFill>
                <a:latin typeface="Segoe UI"/>
              </a:rPr>
              <a:t>9/9 working, all on PHP 8.3 — with no manual intervention on the servers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BF5"/>
                </a:solidFill>
                <a:latin typeface="Segoe UI"/>
              </a:rPr>
              <a:t>What the repository contains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40280"/>
            <a:ext cx="10515600" cy="603504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395728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Segoe UI"/>
              </a:rPr>
              <a:t>9 PHP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414016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source code, Dockerfile and docker-compose for each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935224"/>
            <a:ext cx="10515600" cy="603504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090672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Segoe UI"/>
              </a:rPr>
              <a:t>2 Jenkinsfiles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10896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deploy on push, upgrade on demand, with rollback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30168"/>
            <a:ext cx="10515600" cy="603504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3785616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Segoe UI"/>
              </a:rPr>
              <a:t>5 Ansible playbooks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803904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ping, deploy, upgrade-php, rollback-php, monitoring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325112"/>
            <a:ext cx="10515600" cy="603504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44805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Segoe UI"/>
              </a:rPr>
              <a:t>infra_check.py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498848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checks, logs and comparable reports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20056"/>
            <a:ext cx="10515600" cy="603504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43000" y="5175504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Segoe UI"/>
              </a:rPr>
              <a:t>Prometheus + Grafana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93792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configuration and dashboard, versioned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715000"/>
            <a:ext cx="10515600" cy="603504"/>
          </a:xfrm>
          <a:prstGeom prst="roundRect">
            <a:avLst>
              <a:gd name="adj" fmla="val 6000"/>
            </a:avLst>
          </a:prstGeom>
          <a:solidFill>
            <a:srgbClr val="0E1426"/>
          </a:solidFill>
          <a:ln w="12700">
            <a:solidFill>
              <a:srgbClr val="24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143000" y="5870448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BF5"/>
                </a:solidFill>
                <a:latin typeface="Segoe UI"/>
              </a:rPr>
              <a:t>Documentation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888736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9AA7BD"/>
                </a:solidFill>
                <a:latin typeface="Segoe UI"/>
              </a:rPr>
              <a:t>a readme per application, MIGRATION.md, architecture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89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BF5"/>
                </a:solidFill>
                <a:latin typeface="Segoe UI"/>
              </a:rPr>
              <a:t>What the project demonstrates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1089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A7BD"/>
                </a:solidFill>
                <a:latin typeface="Segoe UI"/>
              </a:rPr>
              <a:t>An estate of nine applications on five PHP versions can be managed, tested,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A7BD"/>
                </a:solidFill>
                <a:latin typeface="Segoe UI"/>
              </a:rPr>
              <a:t>upgraded and monitored without touching a server by hand.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9AA7BD"/>
                </a:solidFill>
                <a:latin typeface="Segoe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BF5"/>
                </a:solidFill>
                <a:latin typeface="Segoe UI"/>
              </a:rPr>
              <a:t>And when something breaks — because it does — the infrastructure tells you what, where and why.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669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2D3EE"/>
                </a:solidFill>
                <a:latin typeface="Consolas"/>
              </a:rPr>
              <a:t>github.com/AdrianGoG/devops-php-infrastructure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